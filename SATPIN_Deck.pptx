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6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SATPIN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Mode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teach phonics to 3 — 4 year olds, the way the science of reading actually says 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briefing for parents and teachers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Anshul  ·  May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554480"/>
            <a:ext cx="1097280" cy="10972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554480"/>
            <a:ext cx="1097280" cy="109728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554480"/>
            <a:ext cx="1097280" cy="109728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017520"/>
            <a:ext cx="1097280" cy="109728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017520"/>
            <a:ext cx="1097280" cy="109728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3017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548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three-year-old can sing the ABCs. Are they ready to read?"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46304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not — and that is the most misunderstood thing about early literacy.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3017520"/>
            <a:ext cx="5394960" cy="31089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letter NAMES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"ay, bee, see, dee…"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names do not help a child sound out a word.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blend </a:t>
            </a:r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"see-ay-tee"</a:t>
            </a:r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pPr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FCE7E2"/>
          </a:solidFill>
          <a:ln w="12700">
            <a:solidFill>
              <a:srgbClr val="FCE7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letter SOUNDS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652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"sss, ah, tuh, ih…"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4652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are what the brain blends to read.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"sss-aaah-tuh"</a:t>
            </a:r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</a:t>
            </a:r>
            <a:pPr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"sat" </a:t>
            </a:r>
            <a:pPr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the child has read.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Why phonics, not the alphabet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50 years of reading research says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shape every choice in this curriculum.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66160" cy="164592"/>
          </a:xfrm>
          <a:prstGeom prst="rect">
            <a:avLst/>
          </a:prstGeom>
          <a:solidFill>
            <a:srgbClr val="1F5673"/>
          </a:solidFill>
          <a:ln w="12700">
            <a:solidFill>
              <a:srgbClr val="1F56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evidence-based reading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Phonological awareness, phonics, fluency, vocabulary, comprehension. The first two are where ages 3–4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28800"/>
            <a:ext cx="3566160" cy="164592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286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475488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minutes/day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proven dose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school-age kids. For 3–4 year olds, 5–10 minutes of daily, joyful, parent-led practice is plenty.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28800"/>
            <a:ext cx="3566160" cy="164592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286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2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85953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Favoured systematic synthetic phonics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4754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for early starters and kids who later turn out to have learning differences. (Reading Rockets meta-review)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The science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method: systematic synthetic phonics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scope-and-sequence (systematic) where the child learns sounds and blends them into words (synthetic).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103120" cy="256032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68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letter shape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154680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26080" y="2194560"/>
            <a:ext cx="2103120" cy="256032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688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63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31089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pure sound, /sss/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154680"/>
            <a:ext cx="411480" cy="4114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12080" y="2194560"/>
            <a:ext cx="2103120" cy="256032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46888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49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3949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body motion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3154680"/>
            <a:ext cx="411480" cy="4114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98080" y="2194560"/>
            <a:ext cx="2103120" cy="256032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468880"/>
            <a:ext cx="640080" cy="6400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35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2200" dirty="0"/>
          </a:p>
        </p:txBody>
      </p:sp>
      <p:sp>
        <p:nvSpPr>
          <p:cNvPr id="22" name="Text 13"/>
          <p:cNvSpPr/>
          <p:nvPr/>
        </p:nvSpPr>
        <p:spPr>
          <a:xfrm>
            <a:off x="76809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s-a-t becomes "sat"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3154680"/>
            <a:ext cx="411480" cy="4114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84080" y="2194560"/>
            <a:ext cx="2103120" cy="256032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0" y="2468880"/>
            <a:ext cx="640080" cy="6400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9212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200" dirty="0"/>
          </a:p>
        </p:txBody>
      </p:sp>
      <p:sp>
        <p:nvSpPr>
          <p:cNvPr id="27" name="Text 16"/>
          <p:cNvSpPr/>
          <p:nvPr/>
        </p:nvSpPr>
        <p:spPr>
          <a:xfrm>
            <a:off x="99669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has read a word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solidFill>
            <a:srgbClr val="FCE7E2"/>
          </a:solidFill>
          <a:ln w="12700">
            <a:solidFill>
              <a:srgbClr val="FCE7E2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440680"/>
            <a:ext cx="640080" cy="6400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691640" y="5349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analytic phonics? </a:t>
            </a:r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asks kids to spot patterns inside whole words ("look for the </a:t>
            </a:r>
            <a:pPr indent="0" marL="0">
              <a:buNone/>
            </a:pPr>
            <a:r>
              <a:rPr lang="en-US" sz="15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5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cat, hat, mat"). It works — but synthetic gives faster early wins, which matters far more at age 3–4 than statistical superiority.</a:t>
            </a:r>
            <a:endParaRPr lang="en-US" sz="1600" dirty="0"/>
          </a:p>
        </p:txBody>
      </p:sp>
      <p:sp>
        <p:nvSpPr>
          <p:cNvPr id="31" name="Text 19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Method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teach S, A, T, I, P, N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alphabetical. Selected because these six letters combine into the most real, kid-relevant words fastest.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417320" cy="15544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2194560" y="1828800"/>
            <a:ext cx="1417320" cy="15544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80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1417320" cy="15544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8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17320" cy="15544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8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417320" cy="15544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8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1417320" cy="15544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28800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8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 can build in week one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05740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7472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9204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72668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144000" y="420624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4206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05740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47472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89204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30936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726680" y="493776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FFF4D6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4937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22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852160"/>
            <a:ext cx="365760" cy="3657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09728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 just read a real word" moment is the single biggest motivator at this age. SATPIN puts it in week one.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SATPIN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Multisensory pairings — letter + sound + body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sound is anchored in a mascot, a phoneme, and a physical action. Movement is the secret.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11680"/>
            <a:ext cx="868680" cy="8686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965960"/>
            <a:ext cx="9601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"sss"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0876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20040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6440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wiggle arm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51960" y="17830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34840" y="2011680"/>
            <a:ext cx="868680" cy="8686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3484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65960"/>
            <a:ext cx="960120" cy="9601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"ah"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44068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434840" y="320040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6440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492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fingers up the arm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83880" y="17830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366760" y="2011680"/>
            <a:ext cx="868680" cy="8686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36676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1965960"/>
            <a:ext cx="960120" cy="9601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726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"tuh"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37260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Tick-tock clock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366760" y="320040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264408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0684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head side to side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320040" y="42062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02920" y="4434840"/>
            <a:ext cx="868680" cy="8686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0292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44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4389120"/>
            <a:ext cx="960120" cy="9601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087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"ih"</a:t>
            </a:r>
            <a:endParaRPr lang="en-US" sz="2200" dirty="0"/>
          </a:p>
        </p:txBody>
      </p:sp>
      <p:sp>
        <p:nvSpPr>
          <p:cNvPr id="36" name="Text 27"/>
          <p:cNvSpPr/>
          <p:nvPr/>
        </p:nvSpPr>
        <p:spPr>
          <a:xfrm>
            <a:off x="150876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Itchy mouse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502920" y="562356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687568"/>
            <a:ext cx="411480" cy="4114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4300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scratch and squeak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4251960" y="42062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4434840" y="4434840"/>
            <a:ext cx="868680" cy="8686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443484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4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389120"/>
            <a:ext cx="960120" cy="96012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44068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"puh"</a:t>
            </a:r>
            <a:endParaRPr lang="en-US" sz="2200" dirty="0"/>
          </a:p>
        </p:txBody>
      </p:sp>
      <p:sp>
        <p:nvSpPr>
          <p:cNvPr id="45" name="Text 34"/>
          <p:cNvSpPr/>
          <p:nvPr/>
        </p:nvSpPr>
        <p:spPr>
          <a:xfrm>
            <a:off x="544068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Puffing pig</a:t>
            </a:r>
            <a:endParaRPr lang="en-US" sz="1300" dirty="0"/>
          </a:p>
        </p:txBody>
      </p:sp>
      <p:sp>
        <p:nvSpPr>
          <p:cNvPr id="46" name="Shape 35"/>
          <p:cNvSpPr/>
          <p:nvPr/>
        </p:nvSpPr>
        <p:spPr>
          <a:xfrm>
            <a:off x="4434840" y="562356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687568"/>
            <a:ext cx="411480" cy="41148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07492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puff a candle</a:t>
            </a:r>
            <a:endParaRPr lang="en-US" sz="1300" dirty="0"/>
          </a:p>
        </p:txBody>
      </p:sp>
      <p:sp>
        <p:nvSpPr>
          <p:cNvPr id="49" name="Shape 37"/>
          <p:cNvSpPr/>
          <p:nvPr/>
        </p:nvSpPr>
        <p:spPr>
          <a:xfrm>
            <a:off x="8183880" y="42062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8366760" y="4434840"/>
            <a:ext cx="868680" cy="868680"/>
          </a:xfrm>
          <a:prstGeom prst="rect">
            <a:avLst/>
          </a:prstGeom>
          <a:solidFill>
            <a:srgbClr val="2E8FA5"/>
          </a:solidFill>
          <a:ln w="12700">
            <a:solidFill>
              <a:srgbClr val="2E8FA5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36676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4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8480" y="4389120"/>
            <a:ext cx="960120" cy="96012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937260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"nnn"</a:t>
            </a:r>
            <a:endParaRPr lang="en-US" sz="2200" dirty="0"/>
          </a:p>
        </p:txBody>
      </p:sp>
      <p:sp>
        <p:nvSpPr>
          <p:cNvPr id="54" name="Text 41"/>
          <p:cNvSpPr/>
          <p:nvPr/>
        </p:nvSpPr>
        <p:spPr>
          <a:xfrm>
            <a:off x="937260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plane</a:t>
            </a:r>
            <a:endParaRPr lang="en-US" sz="1300" dirty="0"/>
          </a:p>
        </p:txBody>
      </p:sp>
      <p:sp>
        <p:nvSpPr>
          <p:cNvPr id="55" name="Shape 42"/>
          <p:cNvSpPr/>
          <p:nvPr/>
        </p:nvSpPr>
        <p:spPr>
          <a:xfrm>
            <a:off x="8366760" y="5623560"/>
            <a:ext cx="3291840" cy="5943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5687568"/>
            <a:ext cx="411480" cy="41148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900684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arms wide, hum</a:t>
            </a:r>
            <a:endParaRPr lang="en-US" sz="1300" dirty="0"/>
          </a:p>
        </p:txBody>
      </p:sp>
      <p:sp>
        <p:nvSpPr>
          <p:cNvPr id="58" name="Text 44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Multisensory pairings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5–6 minute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warm, repetitive. Done with a grown-up — never alone on a screen.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5760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— 0:30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 the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 the SATPIN hello song together. Routine cue.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 — 2:00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 of the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big letter, say sound 3×, do action together.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2:00 — 4:00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Mascot 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second story, then "find the sound" hunt at home.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4:00 — 5:30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blend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Together: s-a-t → "sat". Use the companion site.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5:30 — 6:00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High-five and sticker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 + warmth = retention.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7607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715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while smiling.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576072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7800" y="5715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every day.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576072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98280" y="5715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together.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Daily plan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the interactive 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animated read-along the child uses with you. Six SATPIN scenes plus a blending finale.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3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57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story pages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SATPIN letter — mascot, sound button, action button, three example words.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82880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2057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Auto-narration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0352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voice on your device. On macOS, prefers Apple Premium voices like Samantha.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83880" y="182880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031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35440" y="2057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finale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23544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tiles to build sat, pin, ant. Mascots celebrate when the word is right.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0040" y="384048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148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tap targets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4572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3-year-old fingers. No tiny buttons, no dead zones.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51960" y="384048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11480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 states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03520" y="4572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quizzes, no gates, no progress lost on close. Pure free play.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83880" y="3840480"/>
            <a:ext cx="3657600" cy="178308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11480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35440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9235440" y="4572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no accounts, no tracking, no localStorage.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89788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806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open SATPIN_StoryMode.html alongside this deck.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Site tour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— at home or in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40680" cy="4937760"/>
          </a:xfrm>
          <a:prstGeom prst="rect">
            <a:avLst/>
          </a:prstGeom>
          <a:solidFill>
            <a:srgbClr val="FCE7E2"/>
          </a:solidFill>
          <a:ln w="12700">
            <a:solidFill>
              <a:srgbClr val="FCE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the device, not the child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together. The child taps; you narrate and clap.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every day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breakfast or before bath. Routine beats novelty.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letter, many days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each letter for 1–2 days, then cycle the whole SATPIN set.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for sounds in the real world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sound does Snake make? Find me an S thing!"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440680" cy="4937760"/>
          </a:xfrm>
          <a:prstGeom prst="rect">
            <a:avLst/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classroom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circle, single screen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page. The class does the action together.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printed letter card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each child a printed S, A, T, I, P, or N to hold up on cue.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blending page as a game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children become S, A, T and physically arrange themselves.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copy home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parents can open it with a double-click. No accounts.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Usage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56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6420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54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Rockets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vs. Systematic Phonics: What research really says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6712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57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NICHD National Reading Panel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Phonics Instruction (Chapter 2, Part II)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60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News (2026)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science of reading is reshaping literacy education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17296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63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on Improving Literacy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systematic phonics in your classroom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7588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566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Jolly Education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Year scope and sequence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17880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Press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reading and phonics + 7 classroom activities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681728"/>
            <a:ext cx="182880" cy="1828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Kids  </a:t>
            </a:r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reference app for early literacy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Anshul, May 2026.  Questions: tap the thumbs-down on Cowork to send feedback.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SATPIN Story Mode — Phonics for Ages 3–4</dc:title>
  <dc:subject>PptxGenJS Presentation</dc:subject>
  <dc:creator>Anshul (built with Claude)</dc:creator>
  <cp:lastModifiedBy>Anshul (built with Claude)</cp:lastModifiedBy>
  <cp:revision>1</cp:revision>
  <dcterms:created xsi:type="dcterms:W3CDTF">2026-05-09T08:31:26Z</dcterms:created>
  <dcterms:modified xsi:type="dcterms:W3CDTF">2026-05-09T08:31:26Z</dcterms:modified>
</cp:coreProperties>
</file>